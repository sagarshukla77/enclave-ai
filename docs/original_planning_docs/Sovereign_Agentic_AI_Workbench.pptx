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38174" y="892454"/>
            <a:ext cx="704088" cy="-409651"/>
          </a:xfrm>
          <a:prstGeom prst="line">
            <a:avLst/>
          </a:prstGeom>
          <a:noFill/>
          <a:ln w="19050">
            <a:solidFill>
              <a:srgbClr val="00C2A8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8174" y="892454"/>
            <a:ext cx="704088" cy="409651"/>
          </a:xfrm>
          <a:prstGeom prst="line">
            <a:avLst/>
          </a:prstGeom>
          <a:noFill/>
          <a:ln w="19050">
            <a:solidFill>
              <a:srgbClr val="00C2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777240"/>
            <a:ext cx="230429" cy="230429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1527048" y="367589"/>
            <a:ext cx="230429" cy="230429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Shape 7"/>
          <p:cNvSpPr/>
          <p:nvPr/>
        </p:nvSpPr>
        <p:spPr>
          <a:xfrm>
            <a:off x="1527048" y="1186891"/>
            <a:ext cx="230429" cy="230429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On-Premise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Workbench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locally-hosted agentic platform that answers questions and produces deliverables grounded in an organization's own documents — with zero data leaving the premises.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0" cy="68580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5806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87552" y="6080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· MVP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5806440"/>
            <a:ext cx="0" cy="68580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5806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99432" y="6080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17, 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5806440"/>
            <a:ext cx="0" cy="68580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5806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11312" y="6080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&amp; self-hosted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power, without the data leaving the building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PRD translates the Sovereign On-Premise Agentic AI Workbench concept into a buildable MVP. The product is a locally-hosted platform where AI agents answer questions and produce deliverables — reports, summaries — grounded in an organization's own documents, with zero data leaving the local machine or network.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goal for this version is to rely entirely on open-source, self-hostable components that run on a single consumer PC or laptop with a mid-range GPU — or even CPU-only, at reduced speed.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417320"/>
            <a:ext cx="3886200" cy="470916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6916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TARGETS AT A GLANCE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18120" y="2148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18120" y="27157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modules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31729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18120" y="373989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during live 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419709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18120" y="47640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answers correctly sourced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522122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 wks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818120" y="57881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sprint timeline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 STATEMENT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organizations can't just use public cloud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920240"/>
            <a:ext cx="502920" cy="502920"/>
          </a:xfrm>
          <a:prstGeom prst="ellipse">
            <a:avLst/>
          </a:prstGeom>
          <a:solidFill>
            <a:srgbClr val="18224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828800" y="19019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can't leave the building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want generative AI and autonomous agents, but cannot send confidential data to public cloud AI APIs.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920240"/>
            <a:ext cx="502920" cy="502920"/>
          </a:xfrm>
          <a:prstGeom prst="ellipse">
            <a:avLst/>
          </a:prstGeom>
          <a:solidFill>
            <a:srgbClr val="18224A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406640" y="19019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sprawl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5146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 need different models and tools; employees juggle multiple disconnected AI tools with no shared context.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43000" y="4343400"/>
            <a:ext cx="502920" cy="502920"/>
          </a:xfrm>
          <a:prstGeom prst="ellipse">
            <a:avLst/>
          </a:prstGeom>
          <a:solidFill>
            <a:srgbClr val="18224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828800" y="4325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Ungrounded answers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9377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need to be grounded in internal documents (RAG) with traceable evidence — not hallucinated.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402336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4343400"/>
            <a:ext cx="502920" cy="502920"/>
          </a:xfrm>
          <a:prstGeom prst="ellipse">
            <a:avLst/>
          </a:prstGeom>
          <a:solidFill>
            <a:srgbClr val="182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406640" y="4325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gaps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0840" y="49377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audit logs, and provable no-internet-egress operation are needed but rarely available together.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GOALS &amp; SUCCESS METRICS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“done” looks like for this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438912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002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703320" y="160020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15400" y="16002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TARGET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039112"/>
            <a:ext cx="25603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local-only inference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03320" y="2039112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 shows 0 external calls during a full demo session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15400" y="2039112"/>
            <a:ext cx="24231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during demo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798064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798064"/>
            <a:ext cx="10515600" cy="758952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798064"/>
            <a:ext cx="25603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2798064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 cite the correct source document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15400" y="2798064"/>
            <a:ext cx="24231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 of test questions correctly sourced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557016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57016"/>
            <a:ext cx="25603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use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03320" y="3557016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completes a multi-step task using ≥2 tools without manual intervention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15400" y="3557016"/>
            <a:ext cx="24231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working end-to-end workflow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315968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315968"/>
            <a:ext cx="10515600" cy="758952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315968"/>
            <a:ext cx="25603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03320" y="4315968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correctly extracts text from a scanned PDF/image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15400" y="4315968"/>
            <a:ext cx="24231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 OCR accuracy on sample set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074920"/>
            <a:ext cx="25603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03320" y="5074920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has a logged trail: query → sources → tools → 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15400" y="5074920"/>
            <a:ext cx="24231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demo requests logged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833872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SCOPE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the MVP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806440" cy="4709160"/>
          </a:xfrm>
          <a:prstGeom prst="rect">
            <a:avLst/>
          </a:prstGeom>
          <a:solidFill>
            <a:srgbClr val="F5F7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5806440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MVP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295144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167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+ simple workbench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79776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LLM served on-premise (no cloud calls)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264408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1363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index 10–30 sample internal documents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3749040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6210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Q&amp;A with source citations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233672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105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calling 2–3 controlled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4718304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4590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 OCR for one multimodal demo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5202936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deliverable type (report as PDF/DOCX)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5687568"/>
            <a:ext cx="100584" cy="100584"/>
          </a:xfrm>
          <a:prstGeom prst="ellipse">
            <a:avLst/>
          </a:prstGeom>
          <a:solidFill>
            <a:srgbClr val="008C7A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5559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request → sources → tools → output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1554480"/>
            <a:ext cx="4526280" cy="470916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1554480"/>
            <a:ext cx="45262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5544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LATER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2340864"/>
            <a:ext cx="100584" cy="100584"/>
          </a:xfrm>
          <a:prstGeom prst="ellipse">
            <a:avLst/>
          </a:prstGeom>
          <a:solidFill>
            <a:srgbClr val="8892B0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enterprise RBAC, SSO/LDAP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3054096"/>
            <a:ext cx="100584" cy="100584"/>
          </a:xfrm>
          <a:prstGeom prst="ellipse">
            <a:avLst/>
          </a:prstGeom>
          <a:solidFill>
            <a:srgbClr val="8892B0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2907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multi-node scaling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32320" y="3767328"/>
            <a:ext cx="100584" cy="100584"/>
          </a:xfrm>
          <a:prstGeom prst="ellipse">
            <a:avLst/>
          </a:prstGeom>
          <a:solidFill>
            <a:srgbClr val="8892B0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36210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custom models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32320" y="4480560"/>
            <a:ext cx="100584" cy="100584"/>
          </a:xfrm>
          <a:prstGeom prst="ellipse">
            <a:avLst/>
          </a:prstGeom>
          <a:solidFill>
            <a:srgbClr val="8892B0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43342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Audio/video understanding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5193792"/>
            <a:ext cx="100584" cy="100584"/>
          </a:xfrm>
          <a:prstGeom prst="ellipse">
            <a:avLst/>
          </a:prstGeom>
          <a:solidFill>
            <a:srgbClr val="8892B0"/>
          </a:solidFill>
          <a:ln/>
        </p:spPr>
      </p:sp>
      <p:sp>
        <p:nvSpPr>
          <p:cNvPr id="35" name="Text 33"/>
          <p:cNvSpPr/>
          <p:nvPr/>
        </p:nvSpPr>
        <p:spPr>
          <a:xfrm>
            <a:off x="7360920" y="50474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pen-testing / compliance certs (ISO 27001, SOC2)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5760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v2+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USERS &amp; USE CASE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realistic story to build and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309360" cy="461772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DEMO USE CASE — RECOMMENDED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Inspection Report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presentation's Section 8 example and is easy to fake realistic-looking sample data for (SOPs, scanned inspection sheets).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88720" y="3749040"/>
            <a:ext cx="557784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9319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425196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engineer/analyst who uploads a scanned inspection report + reference manuals and asks the workbench to identify issues and produce a maintenance recommendation, with evidence cited.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1600200"/>
            <a:ext cx="4023360" cy="4617720"/>
          </a:xfrm>
          <a:prstGeom prst="rect">
            <a:avLst/>
          </a:prstGeom>
          <a:solidFill>
            <a:srgbClr val="F5F7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9202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83667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LOW-EFFORT ALTERNATIVE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2167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Policy / HR Q&amp;A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680960" y="26974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employee handbook + policies, ask questions, get cited answers.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3657600"/>
            <a:ext cx="338328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840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no image OCR step, which simplifies the build further — a good fallback if inspection data is hard to source.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FUNCTIONAL REQUIREMENTS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modules make up the workbench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76479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1728216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Access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admin login (bcrypt-hashed). Schema designed to support RBAC later.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62272" y="1600200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6479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5065776" y="1728216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Manager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18304" y="2130552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one local LLM via Ollama; switchable-model dropdown.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76479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8705088" y="1728216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Orchestrator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57616" y="2130552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query → retrieves context → calls tools → drafts → validates.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22960" y="3264408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128" y="342900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1426464" y="339242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78992" y="379476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PDF/DOCX/images; OCR on scans; chunks and embeds text.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62272" y="3264408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42900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5065776" y="339242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Knowledge Base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18304" y="379476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index; top-k retrieval with source citation.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101584" y="3264408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342900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8705088" y="339242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Execution Layer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57616" y="379476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Calculator/data tool, document search, optional report generator.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22960" y="4928616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4128" y="5093208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0" name="Text 28"/>
          <p:cNvSpPr/>
          <p:nvPr/>
        </p:nvSpPr>
        <p:spPr>
          <a:xfrm>
            <a:off x="1426464" y="50566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AI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78992" y="5458968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pipeline (Tesseract) or a small local vision-language model.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462272" y="4928616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5093208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4" name="Text 32"/>
          <p:cNvSpPr/>
          <p:nvPr/>
        </p:nvSpPr>
        <p:spPr>
          <a:xfrm>
            <a:off x="5065776" y="50566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Governance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718304" y="5458968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network binding; SQLite/Postgres audit log of every request.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101584" y="4928616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02752" y="5093208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8" name="Text 36"/>
          <p:cNvSpPr/>
          <p:nvPr/>
        </p:nvSpPr>
        <p:spPr>
          <a:xfrm>
            <a:off x="8705088" y="50566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Generator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357616" y="5458968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Markdown/DOCX/PDF report from a template with citations.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NON-FUNCTIONAL REQUIREMENTS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qualities that make the demo credible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21208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762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265176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 internet calls required for core inference. Verified live with a network monitor (Wireshark / netstat).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21208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1762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29400" y="265176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demo response time ≤ 30 seconds per query on a quantized 7–8B model.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521208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4622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43000" y="493776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stack runs via a single docker compose up on a clean machine.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4206240"/>
            <a:ext cx="521208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44622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493776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logged with timestamp, user, inputs, sources, tools called, and output.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runs on one machine — nothing calls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97480" y="1417320"/>
            <a:ext cx="3108960" cy="438912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5" name="Text 3"/>
          <p:cNvSpPr/>
          <p:nvPr/>
        </p:nvSpPr>
        <p:spPr>
          <a:xfrm>
            <a:off x="2697480" y="1417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51960" y="1856232"/>
            <a:ext cx="0" cy="10972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965960"/>
            <a:ext cx="310896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9659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/ Next.js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404872"/>
            <a:ext cx="0" cy="10972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2514600"/>
            <a:ext cx="310896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5146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— FastAPI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51960" y="2953512"/>
            <a:ext cx="0" cy="10972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97480" y="3063240"/>
            <a:ext cx="3108960" cy="438912"/>
          </a:xfrm>
          <a:prstGeom prst="rect">
            <a:avLst/>
          </a:prstGeom>
          <a:solidFill>
            <a:srgbClr val="008C7A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3063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 — LangGraph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3611880"/>
            <a:ext cx="0" cy="10972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14500" y="3721608"/>
            <a:ext cx="507492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14500" y="3721608"/>
            <a:ext cx="0" cy="9144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" y="3721608"/>
            <a:ext cx="1554480" cy="777240"/>
          </a:xfrm>
          <a:prstGeom prst="rect">
            <a:avLst/>
          </a:prstGeom>
          <a:solidFill>
            <a:srgbClr val="F5F7FB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" y="372160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06140" y="3721608"/>
            <a:ext cx="0" cy="9144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28900" y="3721608"/>
            <a:ext cx="1554480" cy="777240"/>
          </a:xfrm>
          <a:prstGeom prst="rect">
            <a:avLst/>
          </a:prstGeom>
          <a:solidFill>
            <a:srgbClr val="F5F7FB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4620" y="372160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(ChromaDB)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97780" y="3721608"/>
            <a:ext cx="0" cy="9144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20540" y="3721608"/>
            <a:ext cx="1554480" cy="777240"/>
          </a:xfrm>
          <a:prstGeom prst="rect">
            <a:avLst/>
          </a:prstGeom>
          <a:solidFill>
            <a:srgbClr val="F5F7FB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66260" y="372160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(calc · search ·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89420" y="3721608"/>
            <a:ext cx="0" cy="9144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12180" y="3721608"/>
            <a:ext cx="1554480" cy="777240"/>
          </a:xfrm>
          <a:prstGeom prst="rect">
            <a:avLst/>
          </a:prstGeom>
          <a:solidFill>
            <a:srgbClr val="F5F7FB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7900" y="372160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Vision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(Tesseract / VLM)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4498848"/>
            <a:ext cx="0" cy="10972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97480" y="4608576"/>
            <a:ext cx="3108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2788920" y="46085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re-checks draft against retrieved sources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51960" y="5111496"/>
            <a:ext cx="0" cy="10972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697480" y="5221224"/>
            <a:ext cx="3108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2788920" y="52212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Postgres / SQLite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51960" y="5724144"/>
            <a:ext cx="0" cy="10972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697480" y="5833872"/>
            <a:ext cx="3108960" cy="50292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37" name="Text 35"/>
          <p:cNvSpPr/>
          <p:nvPr/>
        </p:nvSpPr>
        <p:spPr>
          <a:xfrm>
            <a:off x="2788920" y="58338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— PDF / DOCX / Markdown report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78240" y="1417320"/>
            <a:ext cx="2743200" cy="4919472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39" name="Text 37"/>
          <p:cNvSpPr/>
          <p:nvPr/>
        </p:nvSpPr>
        <p:spPr>
          <a:xfrm>
            <a:off x="90525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CONTAINERIZED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52560" y="20574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runs as a Docker container on one machine, on a local network with no external API dependency.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052560" y="3657600"/>
            <a:ext cx="219456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3840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egress. No API keys. Fully air-gappable.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TECHNOLOGY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and open-source, top to bottom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164592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" y="192024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Next.js 14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62272" y="1554480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64592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 + Uvicorn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302752" y="164592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02752" y="192024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642616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2734056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SERVER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24128" y="3008376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62272" y="2642616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734056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3008376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 (Q4_K_M)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2642616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2734056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LLM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02752" y="3008376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 / Phi-3.5-mini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3730752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82219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OCR MODEL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24128" y="4096512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Qwen2-VL-7B or Tesseract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62272" y="3730752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82219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4096512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/ bge-small-en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01584" y="3730752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8302752" y="382219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02752" y="4096512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4818888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491032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24128" y="5184648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(or SQLite for demo)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462272" y="4818888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91032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5184648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101584" y="4818888"/>
            <a:ext cx="3456432" cy="960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8" name="Text 36"/>
          <p:cNvSpPr/>
          <p:nvPr/>
        </p:nvSpPr>
        <p:spPr>
          <a:xfrm>
            <a:off x="8302752" y="491032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02752" y="5184648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/ reportlab / Pandoc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has a free, self-hostable tier suitable for a demo — no paid API keys, no cloud subscriptions, no vendor lock-in.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HARDWARE RESOURCES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hardware paths, ranked by effort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456432" cy="457200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3456432" cy="3657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Use what you own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tok/s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299923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machine with ≥16GB RAM. A GPU with ≥8GB VRAM (RTX 3060/3070/4060) runs Qwen2.5-7B Q4 comfortably. No GPU? Run Llama-3.2-3B / Phi-3.5-mini on CPU instead — slower, but workable for a handful of pre-tested queries.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600200"/>
            <a:ext cx="345643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600200"/>
            <a:ext cx="345643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6002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0872" y="210312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One-time GPU upgrade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90872" y="26974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16GB VRAM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90872" y="3291840"/>
            <a:ext cx="299923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used RTX 3060 12GB or RTX 4060 Ti 16GB gives more headroom, including room for a vision model. A one-time upgrade with no recurring dependency — it satisfies the sovereignty requirement better than any cloud rental.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600200"/>
            <a:ext cx="345643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600200"/>
            <a:ext cx="345643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16002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30184" y="210312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— Pay-as-you-go cloud GPU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30184" y="26974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instances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30184" y="3291840"/>
            <a:ext cx="299923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GPU instances (RunPod / Vast.ai) to batch-test the pipeline or a bigger model before the demo. Avoid for the live demo itself — it defeats the sovereign pitch.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Option A. Only move to Option B if available hardware genuinely can't run a 3–7B quantized model at usable speed.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MODEL SIZING GUIDE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the model to available VRAM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VRAM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0896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 (OLLAMA TAG)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4–6GB or CPU-only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214884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phi3.5:3.8b-mini-instruct-q4_K_M or llama3.2:3b-instruct-q4_K_M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1488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weakest reasoning — fine for scripted demo questions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200400"/>
            <a:ext cx="10515600" cy="1051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32004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qwen2.5:7b-instruct-q4_K_M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3200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balance of quality and speed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519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12–16GB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425196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qwen2.5:14b-instruct-q4_K_M or qwen2.5:7b at Q5/Q8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42519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better reasoning and tool-use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303520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303520"/>
            <a:ext cx="10515600" cy="1051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3035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Vision needed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08960" y="530352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qwen2-vl:7b-instruct-q4_K_M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53035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scanned-document / diagram understanding beyond plain OCR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6355080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DEMO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story, in eight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172821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scanned inspection report + 2–3 reference SOP documents.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39712" y="172821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extracts text from the scan; text is chunked and embedded into ChromaDB alongside the SOPs.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4752" y="291693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what maintenance action the report requires, based on the SOPs.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971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9712" y="291693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retrieves relevant SOP chunks, reads OCR'd findings, optionally runs a calculation tool, drafts an answer.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44752" y="410565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validates its draft — checking that claims trace back to a retrieved chunk.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39712" y="410565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generates a one-page maintenance recommendation report (DOCX/PDF) with citations.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44752" y="529437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shows the full trail: query → OCR output → SOP chunks → tool calls → final report.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53492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39712" y="5294376"/>
            <a:ext cx="44531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network monitor proves zero outbound connections during the whole flow.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TIMELINE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6–8 week MVP sprint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3977640"/>
            <a:ext cx="9875520" cy="0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813048"/>
            <a:ext cx="329184" cy="329184"/>
          </a:xfrm>
          <a:prstGeom prst="ellipse">
            <a:avLst/>
          </a:prstGeom>
          <a:solidFill>
            <a:srgbClr val="182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3657600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011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2606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Ollama + one model running locally, basic FastAPI skeleton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389197" y="3813048"/>
            <a:ext cx="329184" cy="329184"/>
          </a:xfrm>
          <a:prstGeom prst="ellipse">
            <a:avLst/>
          </a:prstGeom>
          <a:solidFill>
            <a:srgbClr val="182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9197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53789" y="4142232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3125" y="4297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13125" y="4526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+ OCR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3125" y="4892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+ OCR pipeline working end-to-end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3799985" y="3813048"/>
            <a:ext cx="329184" cy="329184"/>
          </a:xfrm>
          <a:prstGeom prst="ellipse">
            <a:avLst/>
          </a:prstGeom>
          <a:solidFill>
            <a:srgbClr val="182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9985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64577" y="3657600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3913" y="2011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23913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+ citations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23913" y="2606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indexing + RAG retrieval + citation formatting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210774" y="3813048"/>
            <a:ext cx="329184" cy="329184"/>
          </a:xfrm>
          <a:prstGeom prst="ellipse">
            <a:avLst/>
          </a:prstGeom>
          <a:solidFill>
            <a:srgbClr val="182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0774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75366" y="4142232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4702" y="4297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34702" y="4526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orchestration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34702" y="4892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 wired up with 1–2 tools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621562" y="3813048"/>
            <a:ext cx="329184" cy="329184"/>
          </a:xfrm>
          <a:prstGeom prst="ellipse">
            <a:avLst/>
          </a:prstGeom>
          <a:solidFill>
            <a:srgbClr val="182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1562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86154" y="3657600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45490" y="2011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45490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45490" y="2606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chat, and source view built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8032351" y="3813048"/>
            <a:ext cx="329184" cy="329184"/>
          </a:xfrm>
          <a:prstGeom prst="ellipse">
            <a:avLst/>
          </a:prstGeom>
          <a:solidFill>
            <a:srgbClr val="182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32351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96943" y="4142232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6279" y="4297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56279" y="4526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+ deliverables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56279" y="4892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+ deliverable generator (DOCX/PDF report)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9443139" y="3813048"/>
            <a:ext cx="329184" cy="329184"/>
          </a:xfrm>
          <a:prstGeom prst="ellipse">
            <a:avLst/>
          </a:prstGeom>
          <a:solidFill>
            <a:srgbClr val="182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43139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607731" y="3657600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7067" y="2011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867067" y="2240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7067" y="2606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no-egress verification, demo script rehearsal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10853928" y="3813048"/>
            <a:ext cx="329184" cy="329184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53928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018520" y="4142232"/>
            <a:ext cx="0" cy="155448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77856" y="429768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277856" y="45262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+ demo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277856" y="489204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week + final demo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TEAM &amp; ROLES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builds it, and how the pieces connect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309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Agent engineer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41401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LangGraph orchestrator, tool layer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6309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/ RAG engineer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467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selection, embeddings, ChromaDB, prompt design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2944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877056"/>
            <a:ext cx="6309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96849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engineer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279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upload UI, chat UI, audit log view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387705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809744"/>
            <a:ext cx="6309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9011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Docs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5212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setup, README, demo script, security write-up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480974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52360" y="1600200"/>
            <a:ext cx="3931920" cy="461772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ROLES CONNECT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2340864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21945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ML/RAG share ownership of the agent's tool-calling contract — changes need both sides in sync.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26680" y="3273552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312724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reads the same audit log schema the backend writes, so log format changes are coordinated.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26680" y="420624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405993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owns the single docker-compose file every other role runs locally, so environment changes go through them.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26680" y="5102352"/>
            <a:ext cx="338328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52669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solo, treat this as a sequential checklist rather than parallel roles.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RISKS &amp; MITIGATIONS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the plan for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solidFill>
            <a:srgbClr val="18224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00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66360" y="1600200"/>
            <a:ext cx="6172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hardware too slow for live demo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66360" y="2011680"/>
            <a:ext cx="6035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Pre-run and cache demo queries; keep the model small (3–7B); have a fallback CPU-only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52928"/>
            <a:ext cx="10515600" cy="84124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85292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on poor scans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66360" y="2852928"/>
            <a:ext cx="6035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clean sample documents for the demo; note OCR limitations as a known roadmap item.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694176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94176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gives ungrounded answers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66360" y="3694176"/>
            <a:ext cx="6035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validation strict — if no supporting chunk is found, the agent must say so rather than guess.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535424"/>
            <a:ext cx="10515600" cy="84124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35424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beyond MVP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66360" y="4535424"/>
            <a:ext cx="6035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firm to the Section 4.1 in-scope list; log everything else as future work.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376672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376672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"Sovereignty" claim not convincing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66360" y="5376672"/>
            <a:ext cx="6035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disconnect the network cable / Wi-Fi during the live demo as proof.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6217920"/>
            <a:ext cx="105156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OPEN QUESTIONS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aligned before we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industry workflow should be the primary demo use case — inspection reports, policy Q&amp;A, or something else?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92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hardware will actually be available for the demo — should we plan around Option A or Option B?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1371600" y="34015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level of air-gapped operation should be proven, not just claimed?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1371600" y="41788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2–3 tools give the most convincing "agentic" story for reviewers?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8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371600" y="49560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minimum bar for OCR / multimodal accuracy to be considered a pass?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5943600"/>
            <a:ext cx="1042416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LOCAL SETUP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64282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qwen2.5:7b-instruct-q4_K_M  ·  docker compose up --build  ·  http://localhost:3000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2026-09-17T04:17:23Z</dcterms:created>
  <dcterms:modified xsi:type="dcterms:W3CDTF">2026-09-17T04:17:23Z</dcterms:modified>
</cp:coreProperties>
</file>